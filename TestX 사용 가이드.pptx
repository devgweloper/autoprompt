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6" r:id="rId27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0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19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06B1B"/>
                </a:solidFill>
                <a:latin typeface="맑은 고딕"/>
              </a:rPr>
              <a:t>사용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6035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0" b="1">
                <a:solidFill>
                  <a:srgbClr val="25292F"/>
                </a:solidFill>
                <a:latin typeface="맑은 고딕"/>
              </a:rPr>
              <a:t>TestX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401568"/>
            <a:ext cx="822960" cy="45720"/>
          </a:xfrm>
          <a:prstGeom prst="rect">
            <a:avLst/>
          </a:prstGeom>
          <a:solidFill>
            <a:srgbClr val="E0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639312"/>
            <a:ext cx="5394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555C66"/>
                </a:solidFill>
                <a:latin typeface="맑은 고딕"/>
              </a:rPr>
              <a:t>프롬프트 · 모델 회귀 테스트 도구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715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8A919B"/>
                </a:solidFill>
                <a:latin typeface="맑은 고딕"/>
              </a:rPr>
              <a:t>v0.1.0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96228" y="2308860"/>
            <a:ext cx="5358384" cy="240087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10-single-ready__0_0_1600_7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59152"/>
            <a:ext cx="5257800" cy="23002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06B1B"/>
                </a:solidFill>
                <a:latin typeface="맑은 고딕"/>
              </a:rPr>
              <a:t>전체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777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5292F"/>
                </a:solidFill>
                <a:latin typeface="맑은 고딕"/>
              </a:rPr>
              <a:t>세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566928" cy="41148"/>
          </a:xfrm>
          <a:prstGeom prst="rect">
            <a:avLst/>
          </a:prstGeom>
          <a:solidFill>
            <a:srgbClr val="E0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95967" y="73152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8A919B"/>
                </a:solidFill>
                <a:latin typeface="맑은 고딕"/>
              </a:rPr>
              <a:t>01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19B"/>
                </a:solidFill>
                <a:latin typeface="맑은 고딕"/>
              </a:rPr>
              <a:t>TestX 사용 가이드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74519"/>
            <a:ext cx="325922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167128"/>
            <a:ext cx="420624" cy="420624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212848"/>
            <a:ext cx="216194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5292F"/>
                </a:solidFill>
                <a:latin typeface="맑은 고딕"/>
              </a:rPr>
              <a:t>데이터셋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852928"/>
            <a:ext cx="243626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555C66"/>
                </a:solidFill>
                <a:latin typeface="맑은 고딕"/>
              </a:rPr>
              <a:t>질문과 정답을 모은다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555C66"/>
                </a:solidFill>
                <a:latin typeface="맑은 고딕"/>
              </a:rPr>
              <a:t>엑셀로 한 번에 올린다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54170" y="2788920"/>
            <a:ext cx="384048" cy="0"/>
          </a:xfrm>
          <a:prstGeom prst="line">
            <a:avLst/>
          </a:prstGeom>
          <a:ln w="31750">
            <a:solidFill>
              <a:srgbClr val="E06B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66234" y="1874519"/>
            <a:ext cx="325922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58842" y="2167128"/>
            <a:ext cx="420624" cy="420624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0634" y="2212848"/>
            <a:ext cx="216194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5292F"/>
                </a:solidFill>
                <a:latin typeface="맑은 고딕"/>
              </a:rPr>
              <a:t>실행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9154" y="2852928"/>
            <a:ext cx="243626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555C66"/>
                </a:solidFill>
                <a:latin typeface="맑은 고딕"/>
              </a:rPr>
              <a:t>Agent에 질문을 보낸다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555C66"/>
                </a:solidFill>
                <a:latin typeface="맑은 고딕"/>
              </a:rPr>
              <a:t>하나, 또는 A·B 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53476" y="2788920"/>
            <a:ext cx="384048" cy="0"/>
          </a:xfrm>
          <a:prstGeom prst="line">
            <a:avLst/>
          </a:prstGeom>
          <a:ln w="31750">
            <a:solidFill>
              <a:srgbClr val="E06B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65540" y="1874519"/>
            <a:ext cx="325922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58148" y="2167128"/>
            <a:ext cx="420624" cy="420624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9940" y="2212848"/>
            <a:ext cx="216194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5292F"/>
                </a:solidFill>
                <a:latin typeface="맑은 고딕"/>
              </a:rPr>
              <a:t>결과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8460" y="2852928"/>
            <a:ext cx="243626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555C66"/>
                </a:solidFill>
                <a:latin typeface="맑은 고딕"/>
              </a:rPr>
              <a:t>정답과 답변을 비교한다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555C66"/>
                </a:solidFill>
                <a:latin typeface="맑은 고딕"/>
              </a:rPr>
              <a:t>키 단위로 본다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160520"/>
            <a:ext cx="11057839" cy="1280160"/>
          </a:xfrm>
          <a:prstGeom prst="roundRect">
            <a:avLst>
              <a:gd name="adj" fmla="val 3000"/>
            </a:avLst>
          </a:prstGeom>
          <a:solidFill>
            <a:srgbClr val="FD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3891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55310"/>
                </a:solidFill>
                <a:latin typeface="맑은 고딕"/>
              </a:rPr>
              <a:t>채점 두 갈래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75488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55C66"/>
                </a:solidFill>
                <a:latin typeface="맑은 고딕"/>
              </a:rPr>
              <a:t>Action Test — 정답과 같은지 O / X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555C66"/>
                </a:solidFill>
                <a:latin typeface="맑은 고딕"/>
              </a:rPr>
              <a:t>RAGAS — 심판 LLM이 0 ~ 1 점수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7648" y="4389120"/>
            <a:ext cx="18288" cy="868680"/>
          </a:xfrm>
          <a:prstGeom prst="rect">
            <a:avLst/>
          </a:prstGeom>
          <a:solidFill>
            <a:srgbClr val="DF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4389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55310"/>
                </a:solidFill>
                <a:latin typeface="맑은 고딕"/>
              </a:rPr>
              <a:t>사이드바 6개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475488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55C66"/>
                </a:solidFill>
                <a:latin typeface="맑은 고딕"/>
              </a:rPr>
              <a:t>실행 — 단일 실행 · A·B 비교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555C66"/>
                </a:solidFill>
                <a:latin typeface="맑은 고딕"/>
              </a:rPr>
              <a:t>데이터 — 데이터셋 · 실행 기록        관리 — 프롬프트 · 설정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06B1B"/>
                </a:solidFill>
                <a:latin typeface="맑은 고딕"/>
              </a:rPr>
              <a:t>시작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777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5292F"/>
                </a:solidFill>
                <a:latin typeface="맑은 고딕"/>
              </a:rPr>
              <a:t>화면 지도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566928" cy="41148"/>
          </a:xfrm>
          <a:prstGeom prst="rect">
            <a:avLst/>
          </a:prstGeom>
          <a:solidFill>
            <a:srgbClr val="E0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95967" y="73152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8A919B"/>
                </a:solidFill>
                <a:latin typeface="맑은 고딕"/>
              </a:rPr>
              <a:t>02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19B"/>
                </a:solidFill>
                <a:latin typeface="맑은 고딕"/>
              </a:rPr>
              <a:t>TestX 사용 가이드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5" y="1376172"/>
            <a:ext cx="6638544" cy="418680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10-single-ready__0_0_1600_1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26464"/>
            <a:ext cx="6537960" cy="408622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03704" y="1822827"/>
            <a:ext cx="862193" cy="359587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51597" y="1708527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704" y="2292743"/>
            <a:ext cx="862193" cy="359587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51597" y="2178443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704" y="2762659"/>
            <a:ext cx="862193" cy="359587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51597" y="2648359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5531" y="5320636"/>
            <a:ext cx="890797" cy="187966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72028" y="5206336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08915" y="1773793"/>
            <a:ext cx="5336609" cy="80090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31225" y="2460393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0" name="Oval 19"/>
          <p:cNvSpPr/>
          <p:nvPr/>
        </p:nvSpPr>
        <p:spPr>
          <a:xfrm>
            <a:off x="7516367" y="165506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1636776"/>
            <a:ext cx="3760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292F"/>
                </a:solidFill>
                <a:latin typeface="맑은 고딕"/>
              </a:rPr>
              <a:t>실행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1869948"/>
            <a:ext cx="376092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55C66"/>
                </a:solidFill>
                <a:latin typeface="맑은 고딕"/>
              </a:rPr>
              <a:t>테스트를 돌리는 곳</a:t>
            </a:r>
          </a:p>
        </p:txBody>
      </p:sp>
      <p:sp>
        <p:nvSpPr>
          <p:cNvPr id="23" name="Oval 22"/>
          <p:cNvSpPr/>
          <p:nvPr/>
        </p:nvSpPr>
        <p:spPr>
          <a:xfrm>
            <a:off x="7516367" y="2459736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441448"/>
            <a:ext cx="3760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292F"/>
                </a:solidFill>
                <a:latin typeface="맑은 고딕"/>
              </a:rPr>
              <a:t>데이터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674620"/>
            <a:ext cx="376092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55C66"/>
                </a:solidFill>
                <a:latin typeface="맑은 고딕"/>
              </a:rPr>
              <a:t>질문·정답과 지난 기록</a:t>
            </a:r>
          </a:p>
        </p:txBody>
      </p:sp>
      <p:sp>
        <p:nvSpPr>
          <p:cNvPr id="26" name="Oval 25"/>
          <p:cNvSpPr/>
          <p:nvPr/>
        </p:nvSpPr>
        <p:spPr>
          <a:xfrm>
            <a:off x="7516367" y="3264408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246120"/>
            <a:ext cx="3760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292F"/>
                </a:solidFill>
                <a:latin typeface="맑은 고딕"/>
              </a:rPr>
              <a:t>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479292"/>
            <a:ext cx="376092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55C66"/>
                </a:solidFill>
                <a:latin typeface="맑은 고딕"/>
              </a:rPr>
              <a:t>프롬프트 · API · 모델 등록</a:t>
            </a:r>
          </a:p>
        </p:txBody>
      </p:sp>
      <p:sp>
        <p:nvSpPr>
          <p:cNvPr id="29" name="Oval 28"/>
          <p:cNvSpPr/>
          <p:nvPr/>
        </p:nvSpPr>
        <p:spPr>
          <a:xfrm>
            <a:off x="7516367" y="4069080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050792"/>
            <a:ext cx="3760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292F"/>
                </a:solidFill>
                <a:latin typeface="맑은 고딕"/>
              </a:rPr>
              <a:t>표시등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283964"/>
            <a:ext cx="376092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55C66"/>
                </a:solidFill>
                <a:latin typeface="맑은 고딕"/>
              </a:rPr>
              <a:t>환경 / DB 연결 상태</a:t>
            </a:r>
          </a:p>
        </p:txBody>
      </p:sp>
      <p:sp>
        <p:nvSpPr>
          <p:cNvPr id="32" name="Oval 31"/>
          <p:cNvSpPr/>
          <p:nvPr/>
        </p:nvSpPr>
        <p:spPr>
          <a:xfrm>
            <a:off x="7516367" y="4873752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855464"/>
            <a:ext cx="3760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292F"/>
                </a:solidFill>
                <a:latin typeface="맑은 고딕"/>
              </a:rPr>
              <a:t>작업 영역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5088636"/>
            <a:ext cx="376092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55C66"/>
                </a:solidFill>
                <a:latin typeface="맑은 고딕"/>
              </a:rPr>
              <a:t>위 = 조건, 아래 = 결과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06B1B"/>
                </a:solidFill>
                <a:latin typeface="맑은 고딕"/>
              </a:rPr>
              <a:t>준비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777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5292F"/>
                </a:solidFill>
                <a:latin typeface="맑은 고딕"/>
              </a:rPr>
              <a:t>설정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566928" cy="41148"/>
          </a:xfrm>
          <a:prstGeom prst="rect">
            <a:avLst/>
          </a:prstGeom>
          <a:solidFill>
            <a:srgbClr val="E0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95967" y="73152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8A919B"/>
                </a:solidFill>
                <a:latin typeface="맑은 고딕"/>
              </a:rPr>
              <a:t>03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19B"/>
                </a:solidFill>
                <a:latin typeface="맑은 고딕"/>
              </a:rPr>
              <a:t>TestX 사용 가이드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5" y="1394460"/>
            <a:ext cx="6501384" cy="3824243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40-settings__255_85_1315_7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44752"/>
            <a:ext cx="6400800" cy="372365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66928" y="1478824"/>
            <a:ext cx="6356992" cy="96377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09620" y="1364524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6442034" y="1527499"/>
            <a:ext cx="408872" cy="214171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86002" y="1520285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635073" y="1970445"/>
            <a:ext cx="243376" cy="184966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9041" y="1948628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476668"/>
            <a:ext cx="6356992" cy="1075723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09620" y="3438091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596199"/>
            <a:ext cx="6356992" cy="1547874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09620" y="5029773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0" name="Oval 19"/>
          <p:cNvSpPr/>
          <p:nvPr/>
        </p:nvSpPr>
        <p:spPr>
          <a:xfrm>
            <a:off x="7379208" y="165506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80" y="1636776"/>
            <a:ext cx="38980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292F"/>
                </a:solidFill>
                <a:latin typeface="맑은 고딕"/>
              </a:rPr>
              <a:t>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1869948"/>
            <a:ext cx="389808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55C66"/>
                </a:solidFill>
                <a:latin typeface="맑은 고딕"/>
              </a:rPr>
              <a:t>호출할 API 목록</a:t>
            </a:r>
          </a:p>
        </p:txBody>
      </p:sp>
      <p:sp>
        <p:nvSpPr>
          <p:cNvPr id="23" name="Oval 22"/>
          <p:cNvSpPr/>
          <p:nvPr/>
        </p:nvSpPr>
        <p:spPr>
          <a:xfrm>
            <a:off x="7379208" y="2459736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80" y="2441448"/>
            <a:ext cx="38980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292F"/>
                </a:solidFill>
                <a:latin typeface="맑은 고딕"/>
              </a:rPr>
              <a:t>+ 추가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2674620"/>
            <a:ext cx="389808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55C66"/>
                </a:solidFill>
                <a:latin typeface="맑은 고딕"/>
              </a:rPr>
              <a:t>이름 · URL · 헤더</a:t>
            </a:r>
          </a:p>
        </p:txBody>
      </p:sp>
      <p:sp>
        <p:nvSpPr>
          <p:cNvPr id="26" name="Oval 25"/>
          <p:cNvSpPr/>
          <p:nvPr/>
        </p:nvSpPr>
        <p:spPr>
          <a:xfrm>
            <a:off x="7379208" y="3264408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80" y="3246120"/>
            <a:ext cx="38980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292F"/>
                </a:solidFill>
                <a:latin typeface="맑은 고딕"/>
              </a:rPr>
              <a:t>사용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80" y="3479292"/>
            <a:ext cx="389808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55C66"/>
                </a:solidFill>
                <a:latin typeface="맑은 고딕"/>
              </a:rPr>
              <a:t>끄면 실행 목록에서 숨김</a:t>
            </a:r>
          </a:p>
        </p:txBody>
      </p:sp>
      <p:sp>
        <p:nvSpPr>
          <p:cNvPr id="29" name="Oval 28"/>
          <p:cNvSpPr/>
          <p:nvPr/>
        </p:nvSpPr>
        <p:spPr>
          <a:xfrm>
            <a:off x="7379208" y="4069080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4050792"/>
            <a:ext cx="38980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292F"/>
                </a:solidFill>
                <a:latin typeface="맑은 고딕"/>
              </a:rPr>
              <a:t>모델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4283964"/>
            <a:ext cx="389808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55C66"/>
                </a:solidFill>
                <a:latin typeface="맑은 고딕"/>
              </a:rPr>
              <a:t>실행에서 고를 모델명</a:t>
            </a:r>
          </a:p>
        </p:txBody>
      </p:sp>
      <p:sp>
        <p:nvSpPr>
          <p:cNvPr id="32" name="Oval 31"/>
          <p:cNvSpPr/>
          <p:nvPr/>
        </p:nvSpPr>
        <p:spPr>
          <a:xfrm>
            <a:off x="7379208" y="4873752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80" y="4855464"/>
            <a:ext cx="38980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292F"/>
                </a:solidFill>
                <a:latin typeface="맑은 고딕"/>
              </a:rPr>
              <a:t>Role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80" y="5088636"/>
            <a:ext cx="389808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55C66"/>
                </a:solidFill>
                <a:latin typeface="맑은 고딕"/>
              </a:rPr>
              <a:t>llm · vlm · light_llm · judge_llm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06B1B"/>
                </a:solidFill>
                <a:latin typeface="맑은 고딕"/>
              </a:rPr>
              <a:t>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777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5292F"/>
                </a:solidFill>
                <a:latin typeface="맑은 고딕"/>
              </a:rPr>
              <a:t>데이터셋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566928" cy="41148"/>
          </a:xfrm>
          <a:prstGeom prst="rect">
            <a:avLst/>
          </a:prstGeom>
          <a:solidFill>
            <a:srgbClr val="E0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95967" y="73152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8A919B"/>
                </a:solidFill>
                <a:latin typeface="맑은 고딕"/>
              </a:rPr>
              <a:t>04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19B"/>
                </a:solidFill>
                <a:latin typeface="맑은 고딕"/>
              </a:rPr>
              <a:t>TestX 사용 가이드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4411" y="1330452"/>
            <a:ext cx="10602873" cy="325526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30-datasets-cases__255_85_1315_3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03" y="1380744"/>
            <a:ext cx="10502289" cy="315468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2138521" y="1524501"/>
            <a:ext cx="750733" cy="287515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99588" y="1268469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0541" y="1907855"/>
            <a:ext cx="2092471" cy="335434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4509" y="1961272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0541" y="2211343"/>
            <a:ext cx="2092471" cy="1182006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6241" y="3279049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20527" y="1756110"/>
            <a:ext cx="1485494" cy="36738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206227" y="2009191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4853941" y="1796043"/>
            <a:ext cx="798653" cy="287515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38968" y="1540011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6466" y="1764097"/>
            <a:ext cx="1948713" cy="36738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46523" y="1508065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76770" y="2155437"/>
            <a:ext cx="8114316" cy="2220255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176786" y="4261393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4" name="Oval 23"/>
          <p:cNvSpPr/>
          <p:nvPr/>
        </p:nvSpPr>
        <p:spPr>
          <a:xfrm>
            <a:off x="566928" y="476402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745736"/>
            <a:ext cx="2229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새로 만들기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974336"/>
            <a:ext cx="2229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데이터셋 = 테스트 한 벌</a:t>
            </a:r>
          </a:p>
        </p:txBody>
      </p:sp>
      <p:sp>
        <p:nvSpPr>
          <p:cNvPr id="27" name="Oval 26"/>
          <p:cNvSpPr/>
          <p:nvPr/>
        </p:nvSpPr>
        <p:spPr>
          <a:xfrm>
            <a:off x="3399967" y="476402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9151" y="4745736"/>
            <a:ext cx="2229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데이터셋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29151" y="4974336"/>
            <a:ext cx="2229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숫자 = 케이스 수</a:t>
            </a:r>
          </a:p>
        </p:txBody>
      </p:sp>
      <p:sp>
        <p:nvSpPr>
          <p:cNvPr id="30" name="Oval 29"/>
          <p:cNvSpPr/>
          <p:nvPr/>
        </p:nvSpPr>
        <p:spPr>
          <a:xfrm>
            <a:off x="6233007" y="476402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2191" y="4745736"/>
            <a:ext cx="2229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폴더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2191" y="4974336"/>
            <a:ext cx="2229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갈래별로 나눠 담기</a:t>
            </a:r>
          </a:p>
        </p:txBody>
      </p:sp>
      <p:sp>
        <p:nvSpPr>
          <p:cNvPr id="33" name="Oval 32"/>
          <p:cNvSpPr/>
          <p:nvPr/>
        </p:nvSpPr>
        <p:spPr>
          <a:xfrm>
            <a:off x="9066047" y="476402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95231" y="4745736"/>
            <a:ext cx="2229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검색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5231" y="4974336"/>
            <a:ext cx="2229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질문 · 정답 · 목적</a:t>
            </a:r>
          </a:p>
        </p:txBody>
      </p:sp>
      <p:sp>
        <p:nvSpPr>
          <p:cNvPr id="36" name="Oval 35"/>
          <p:cNvSpPr/>
          <p:nvPr/>
        </p:nvSpPr>
        <p:spPr>
          <a:xfrm>
            <a:off x="566928" y="5477256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5458968"/>
            <a:ext cx="2229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목적 채우기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5687568"/>
            <a:ext cx="2229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빈 목적을 LLM이 작성</a:t>
            </a:r>
          </a:p>
        </p:txBody>
      </p:sp>
      <p:sp>
        <p:nvSpPr>
          <p:cNvPr id="39" name="Oval 38"/>
          <p:cNvSpPr/>
          <p:nvPr/>
        </p:nvSpPr>
        <p:spPr>
          <a:xfrm>
            <a:off x="3399967" y="5477256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29151" y="5458968"/>
            <a:ext cx="2229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올리기 · 내려받기 · 추가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29151" y="5687568"/>
            <a:ext cx="2229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엑셀 또는 직접</a:t>
            </a:r>
          </a:p>
        </p:txBody>
      </p:sp>
      <p:sp>
        <p:nvSpPr>
          <p:cNvPr id="42" name="Oval 41"/>
          <p:cNvSpPr/>
          <p:nvPr/>
        </p:nvSpPr>
        <p:spPr>
          <a:xfrm>
            <a:off x="6233007" y="5477256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2191" y="5458968"/>
            <a:ext cx="2229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케이스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62191" y="5687568"/>
            <a:ext cx="2229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펼치면 전체 내용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06B1B"/>
                </a:solidFill>
                <a:latin typeface="맑은 고딕"/>
              </a:rPr>
              <a:t>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777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5292F"/>
                </a:solidFill>
                <a:latin typeface="맑은 고딕"/>
              </a:rPr>
              <a:t>엑셀 올리기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566928" cy="41148"/>
          </a:xfrm>
          <a:prstGeom prst="rect">
            <a:avLst/>
          </a:prstGeom>
          <a:solidFill>
            <a:srgbClr val="E0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95967" y="73152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8A919B"/>
                </a:solidFill>
                <a:latin typeface="맑은 고딕"/>
              </a:rPr>
              <a:t>05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19B"/>
                </a:solidFill>
                <a:latin typeface="맑은 고딕"/>
              </a:rPr>
              <a:t>TestX 사용 가이드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5" y="1467612"/>
            <a:ext cx="6592824" cy="361623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32-dataset-import__250_210_1108_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17904"/>
            <a:ext cx="6492240" cy="3515653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150957" y="1980798"/>
            <a:ext cx="761724" cy="257814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36657" y="1866498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5705641" y="1998376"/>
            <a:ext cx="433597" cy="210939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91341" y="1884076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4116" y="2256191"/>
            <a:ext cx="6205128" cy="234376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8084" y="2259079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6502522" y="4699570"/>
            <a:ext cx="410159" cy="246095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46490" y="4708318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7424927" y="2066543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048255"/>
            <a:ext cx="38523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292F"/>
                </a:solidFill>
                <a:latin typeface="맑은 고딕"/>
              </a:rPr>
              <a:t>엑셀 템플릿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281427"/>
            <a:ext cx="385236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55C66"/>
                </a:solidFill>
                <a:latin typeface="맑은 고딕"/>
              </a:rPr>
              <a:t>받아서 채우는 게 제일 빠름</a:t>
            </a:r>
          </a:p>
        </p:txBody>
      </p:sp>
      <p:sp>
        <p:nvSpPr>
          <p:cNvPr id="21" name="Oval 20"/>
          <p:cNvSpPr/>
          <p:nvPr/>
        </p:nvSpPr>
        <p:spPr>
          <a:xfrm>
            <a:off x="7424927" y="293522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916936"/>
            <a:ext cx="38523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292F"/>
                </a:solidFill>
                <a:latin typeface="맑은 고딕"/>
              </a:rPr>
              <a:t>파일 열기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150108"/>
            <a:ext cx="385236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55C66"/>
                </a:solidFill>
                <a:latin typeface="맑은 고딕"/>
              </a:rPr>
              <a:t>복사 · 붙여넣기도 가능</a:t>
            </a:r>
          </a:p>
        </p:txBody>
      </p:sp>
      <p:sp>
        <p:nvSpPr>
          <p:cNvPr id="24" name="Oval 23"/>
          <p:cNvSpPr/>
          <p:nvPr/>
        </p:nvSpPr>
        <p:spPr>
          <a:xfrm>
            <a:off x="7424927" y="380390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785616"/>
            <a:ext cx="38523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292F"/>
                </a:solidFill>
                <a:latin typeface="맑은 고딕"/>
              </a:rPr>
              <a:t>열 다섯 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018788"/>
            <a:ext cx="385236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55C66"/>
                </a:solidFill>
                <a:latin typeface="맑은 고딕"/>
              </a:rPr>
              <a:t>질문(필수) · Contexts · 정답 · 목적 · 폴더</a:t>
            </a:r>
          </a:p>
        </p:txBody>
      </p:sp>
      <p:sp>
        <p:nvSpPr>
          <p:cNvPr id="27" name="Oval 26"/>
          <p:cNvSpPr/>
          <p:nvPr/>
        </p:nvSpPr>
        <p:spPr>
          <a:xfrm>
            <a:off x="7424927" y="4672583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654296"/>
            <a:ext cx="38523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292F"/>
                </a:solidFill>
                <a:latin typeface="맑은 고딕"/>
              </a:rPr>
              <a:t>저장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887468"/>
            <a:ext cx="385236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55C66"/>
                </a:solidFill>
                <a:latin typeface="맑은 고딕"/>
              </a:rPr>
              <a:t>빈 행은 무시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06B1B"/>
                </a:solidFill>
                <a:latin typeface="맑은 고딕"/>
              </a:rPr>
              <a:t>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777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5292F"/>
                </a:solidFill>
                <a:latin typeface="맑은 고딕"/>
              </a:rPr>
              <a:t>단일 실행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566928" cy="41148"/>
          </a:xfrm>
          <a:prstGeom prst="rect">
            <a:avLst/>
          </a:prstGeom>
          <a:solidFill>
            <a:srgbClr val="E0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95967" y="73152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8A919B"/>
                </a:solidFill>
                <a:latin typeface="맑은 고딕"/>
              </a:rPr>
              <a:t>06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19B"/>
                </a:solidFill>
                <a:latin typeface="맑은 고딕"/>
              </a:rPr>
              <a:t>TestX 사용 가이드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5" y="1376172"/>
            <a:ext cx="11158423" cy="212644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10-single-ready__255_62_1310_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26464"/>
            <a:ext cx="11057839" cy="20258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80541" y="1772549"/>
            <a:ext cx="2000540" cy="38829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66512" y="1516517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88841" y="1772549"/>
            <a:ext cx="1721984" cy="38829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35533" y="1516517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0541" y="2279014"/>
            <a:ext cx="1519397" cy="396731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6241" y="2164714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6175" y="2279014"/>
            <a:ext cx="3140088" cy="396731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21919" y="2703178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5564058" y="2279014"/>
            <a:ext cx="987608" cy="396731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562" y="2022982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0" name="Oval 19"/>
          <p:cNvSpPr/>
          <p:nvPr/>
        </p:nvSpPr>
        <p:spPr>
          <a:xfrm>
            <a:off x="6703606" y="2262132"/>
            <a:ext cx="776581" cy="430496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77597" y="2006100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3659" y="2734834"/>
            <a:ext cx="1907688" cy="337643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9359" y="2958178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4" name="Oval 23"/>
          <p:cNvSpPr/>
          <p:nvPr/>
        </p:nvSpPr>
        <p:spPr>
          <a:xfrm>
            <a:off x="566928" y="394106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3922776"/>
            <a:ext cx="2229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대상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151376"/>
            <a:ext cx="2229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Default / Model / Prompt</a:t>
            </a:r>
          </a:p>
        </p:txBody>
      </p:sp>
      <p:sp>
        <p:nvSpPr>
          <p:cNvPr id="27" name="Oval 26"/>
          <p:cNvSpPr/>
          <p:nvPr/>
        </p:nvSpPr>
        <p:spPr>
          <a:xfrm>
            <a:off x="3399967" y="394106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9151" y="3922776"/>
            <a:ext cx="2229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29151" y="4151376"/>
            <a:ext cx="2229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설정에 등록한 API</a:t>
            </a:r>
          </a:p>
        </p:txBody>
      </p:sp>
      <p:sp>
        <p:nvSpPr>
          <p:cNvPr id="30" name="Oval 29"/>
          <p:cNvSpPr/>
          <p:nvPr/>
        </p:nvSpPr>
        <p:spPr>
          <a:xfrm>
            <a:off x="6233007" y="394106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2191" y="3922776"/>
            <a:ext cx="2229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입력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2191" y="4151376"/>
            <a:ext cx="2229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데이터셋 / 직접 입력</a:t>
            </a:r>
          </a:p>
        </p:txBody>
      </p:sp>
      <p:sp>
        <p:nvSpPr>
          <p:cNvPr id="33" name="Oval 32"/>
          <p:cNvSpPr/>
          <p:nvPr/>
        </p:nvSpPr>
        <p:spPr>
          <a:xfrm>
            <a:off x="9066047" y="394106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95231" y="3922776"/>
            <a:ext cx="2229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데이터셋 · 폴더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5231" y="4151376"/>
            <a:ext cx="2229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무엇을 돌릴지</a:t>
            </a:r>
          </a:p>
        </p:txBody>
      </p:sp>
      <p:sp>
        <p:nvSpPr>
          <p:cNvPr id="36" name="Oval 35"/>
          <p:cNvSpPr/>
          <p:nvPr/>
        </p:nvSpPr>
        <p:spPr>
          <a:xfrm>
            <a:off x="566928" y="467258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4654296"/>
            <a:ext cx="2229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케이스 선택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4882896"/>
            <a:ext cx="2229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더 좁게 고르기</a:t>
            </a:r>
          </a:p>
        </p:txBody>
      </p:sp>
      <p:sp>
        <p:nvSpPr>
          <p:cNvPr id="39" name="Oval 38"/>
          <p:cNvSpPr/>
          <p:nvPr/>
        </p:nvSpPr>
        <p:spPr>
          <a:xfrm>
            <a:off x="3399967" y="467258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29151" y="4654296"/>
            <a:ext cx="2229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실행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29151" y="4882896"/>
            <a:ext cx="2229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조건이 덜 차면 비활성</a:t>
            </a:r>
          </a:p>
        </p:txBody>
      </p:sp>
      <p:sp>
        <p:nvSpPr>
          <p:cNvPr id="42" name="Oval 41"/>
          <p:cNvSpPr/>
          <p:nvPr/>
        </p:nvSpPr>
        <p:spPr>
          <a:xfrm>
            <a:off x="6233007" y="467258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2191" y="4654296"/>
            <a:ext cx="2229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채점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62191" y="4882896"/>
            <a:ext cx="2229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끄면 답변만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06B1B"/>
                </a:solidFill>
                <a:latin typeface="맑은 고딕"/>
              </a:rPr>
              <a:t>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777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5292F"/>
                </a:solidFill>
                <a:latin typeface="맑은 고딕"/>
              </a:rPr>
              <a:t>케이스 선택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566928" cy="41148"/>
          </a:xfrm>
          <a:prstGeom prst="rect">
            <a:avLst/>
          </a:prstGeom>
          <a:solidFill>
            <a:srgbClr val="E0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95967" y="73152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8A919B"/>
                </a:solidFill>
                <a:latin typeface="맑은 고딕"/>
              </a:rPr>
              <a:t>07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19B"/>
                </a:solidFill>
                <a:latin typeface="맑은 고딕"/>
              </a:rPr>
              <a:t>TestX 사용 가이드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5" y="1513332"/>
            <a:ext cx="6501384" cy="37714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11-case-picker__388_264_830_4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63624"/>
            <a:ext cx="6400800" cy="367082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813705" y="2234551"/>
            <a:ext cx="655503" cy="277625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7673" y="2259063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1810" y="2180568"/>
            <a:ext cx="1835410" cy="370166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35215" y="1924536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4299" y="2566158"/>
            <a:ext cx="5999786" cy="308472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8267" y="2606095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5957481" y="4748600"/>
            <a:ext cx="832875" cy="339319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01449" y="4803960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7333488" y="215798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139696"/>
            <a:ext cx="39438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292F"/>
                </a:solidFill>
                <a:latin typeface="맑은 고딕"/>
              </a:rPr>
              <a:t>전체 선택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372868"/>
            <a:ext cx="394380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55C66"/>
                </a:solidFill>
                <a:latin typeface="맑은 고딕"/>
              </a:rPr>
              <a:t>한 번에 켜고 끄기</a:t>
            </a:r>
          </a:p>
        </p:txBody>
      </p:sp>
      <p:sp>
        <p:nvSpPr>
          <p:cNvPr id="21" name="Oval 20"/>
          <p:cNvSpPr/>
          <p:nvPr/>
        </p:nvSpPr>
        <p:spPr>
          <a:xfrm>
            <a:off x="7333488" y="3026663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008375"/>
            <a:ext cx="39438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292F"/>
                </a:solidFill>
                <a:latin typeface="맑은 고딕"/>
              </a:rPr>
              <a:t>검색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241547"/>
            <a:ext cx="394380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55C66"/>
                </a:solidFill>
                <a:latin typeface="맑은 고딕"/>
              </a:rPr>
              <a:t>질문 · 정답으로</a:t>
            </a:r>
          </a:p>
        </p:txBody>
      </p:sp>
      <p:sp>
        <p:nvSpPr>
          <p:cNvPr id="24" name="Oval 23"/>
          <p:cNvSpPr/>
          <p:nvPr/>
        </p:nvSpPr>
        <p:spPr>
          <a:xfrm>
            <a:off x="7333488" y="389534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877056"/>
            <a:ext cx="39438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292F"/>
                </a:solidFill>
                <a:latin typeface="맑은 고딕"/>
              </a:rPr>
              <a:t>폴더 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110228"/>
            <a:ext cx="394380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55C66"/>
                </a:solidFill>
                <a:latin typeface="맑은 고딕"/>
              </a:rPr>
              <a:t>폴더째 선택</a:t>
            </a:r>
          </a:p>
        </p:txBody>
      </p:sp>
      <p:sp>
        <p:nvSpPr>
          <p:cNvPr id="27" name="Oval 26"/>
          <p:cNvSpPr/>
          <p:nvPr/>
        </p:nvSpPr>
        <p:spPr>
          <a:xfrm>
            <a:off x="7333488" y="4764023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45736"/>
            <a:ext cx="394380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292F"/>
                </a:solidFill>
                <a:latin typeface="맑은 고딕"/>
              </a:rPr>
              <a:t>N건만 실행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4978907"/>
            <a:ext cx="394380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55C66"/>
                </a:solidFill>
                <a:latin typeface="맑은 고딕"/>
              </a:rPr>
              <a:t>안 고르면 전체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06B1B"/>
                </a:solidFill>
                <a:latin typeface="맑은 고딕"/>
              </a:rPr>
              <a:t>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777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5292F"/>
                </a:solidFill>
                <a:latin typeface="맑은 고딕"/>
              </a:rPr>
              <a:t>직접 입력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566928" cy="41148"/>
          </a:xfrm>
          <a:prstGeom prst="rect">
            <a:avLst/>
          </a:prstGeom>
          <a:solidFill>
            <a:srgbClr val="E0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95967" y="73152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8A919B"/>
                </a:solidFill>
                <a:latin typeface="맑은 고딕"/>
              </a:rPr>
              <a:t>08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19B"/>
                </a:solidFill>
                <a:latin typeface="맑은 고딕"/>
              </a:rPr>
              <a:t>TestX 사용 가이드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5" y="1376172"/>
            <a:ext cx="11158423" cy="280173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12-direct-input__255_75_1310_3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26464"/>
            <a:ext cx="11057839" cy="2701151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1681153" y="2169280"/>
            <a:ext cx="835668" cy="396731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84687" y="1913248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2677202" y="2152398"/>
            <a:ext cx="793463" cy="430496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59634" y="1896366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8867" y="3004949"/>
            <a:ext cx="5351656" cy="877874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04567" y="2890649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7406" y="3004949"/>
            <a:ext cx="5402303" cy="877874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75409" y="2890649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453542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517136"/>
            <a:ext cx="2229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5292F"/>
                </a:solidFill>
                <a:latin typeface="맑은 고딕"/>
              </a:rPr>
              <a:t>직접 입력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745736"/>
            <a:ext cx="2229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55C66"/>
                </a:solidFill>
                <a:latin typeface="맑은 고딕"/>
              </a:rPr>
              <a:t>데이터셋 없이 한 건</a:t>
            </a:r>
          </a:p>
        </p:txBody>
      </p:sp>
      <p:sp>
        <p:nvSpPr>
          <p:cNvPr id="21" name="Oval 20"/>
          <p:cNvSpPr/>
          <p:nvPr/>
        </p:nvSpPr>
        <p:spPr>
          <a:xfrm>
            <a:off x="3399967" y="453542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9151" y="4517136"/>
            <a:ext cx="2229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5292F"/>
                </a:solidFill>
                <a:latin typeface="맑은 고딕"/>
              </a:rPr>
              <a:t>호출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29151" y="4745736"/>
            <a:ext cx="2229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55C66"/>
                </a:solidFill>
                <a:latin typeface="맑은 고딕"/>
              </a:rPr>
              <a:t>API 살아 있는지 확인용</a:t>
            </a:r>
          </a:p>
        </p:txBody>
      </p:sp>
      <p:sp>
        <p:nvSpPr>
          <p:cNvPr id="24" name="Oval 23"/>
          <p:cNvSpPr/>
          <p:nvPr/>
        </p:nvSpPr>
        <p:spPr>
          <a:xfrm>
            <a:off x="6233007" y="453542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2191" y="4517136"/>
            <a:ext cx="2229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5292F"/>
                </a:solidFill>
                <a:latin typeface="맑은 고딕"/>
              </a:rPr>
              <a:t>메시지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2191" y="4745736"/>
            <a:ext cx="2229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55C66"/>
                </a:solidFill>
                <a:latin typeface="맑은 고딕"/>
              </a:rPr>
              <a:t>보낼 질문</a:t>
            </a:r>
          </a:p>
        </p:txBody>
      </p:sp>
      <p:sp>
        <p:nvSpPr>
          <p:cNvPr id="27" name="Oval 26"/>
          <p:cNvSpPr/>
          <p:nvPr/>
        </p:nvSpPr>
        <p:spPr>
          <a:xfrm>
            <a:off x="9066047" y="453542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5231" y="4517136"/>
            <a:ext cx="2229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5292F"/>
                </a:solidFill>
                <a:latin typeface="맑은 고딕"/>
              </a:rPr>
              <a:t>기대 정답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5231" y="4745736"/>
            <a:ext cx="2229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55C66"/>
                </a:solidFill>
                <a:latin typeface="맑은 고딕"/>
              </a:rPr>
              <a:t>적으면 채점까지 (선택)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06B1B"/>
                </a:solidFill>
                <a:latin typeface="맑은 고딕"/>
              </a:rPr>
              <a:t>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777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5292F"/>
                </a:solidFill>
                <a:latin typeface="맑은 고딕"/>
              </a:rPr>
              <a:t>모델 바꾸기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566928" cy="41148"/>
          </a:xfrm>
          <a:prstGeom prst="rect">
            <a:avLst/>
          </a:prstGeom>
          <a:solidFill>
            <a:srgbClr val="E0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95967" y="73152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8A919B"/>
                </a:solidFill>
                <a:latin typeface="맑은 고딕"/>
              </a:rPr>
              <a:t>09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19B"/>
                </a:solidFill>
                <a:latin typeface="맑은 고딕"/>
              </a:rPr>
              <a:t>TestX 사용 가이드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9500" y="1330452"/>
            <a:ext cx="10132695" cy="316382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13-target-model__255_85_1310_4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792" y="1380744"/>
            <a:ext cx="10032111" cy="306324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2037054" y="1518589"/>
            <a:ext cx="650938" cy="352272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48223" y="1262557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2321" y="2184844"/>
            <a:ext cx="1118082" cy="1883892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6289" y="3012490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74455" y="2460536"/>
            <a:ext cx="8025688" cy="1608201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73000" y="2204504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92486" y="2184844"/>
            <a:ext cx="612648" cy="1883892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90834" y="2070544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10560519" y="4045762"/>
            <a:ext cx="428853" cy="260375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04487" y="4061650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4736592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718304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946904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이번 실행에만 적용</a:t>
            </a:r>
          </a:p>
        </p:txBody>
      </p:sp>
      <p:sp>
        <p:nvSpPr>
          <p:cNvPr id="23" name="Oval 22"/>
          <p:cNvSpPr/>
          <p:nvPr/>
        </p:nvSpPr>
        <p:spPr>
          <a:xfrm>
            <a:off x="2833359" y="4736592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62543" y="4718304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ROLE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62543" y="4946904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에이전트가 쓰는 네 자리</a:t>
            </a:r>
          </a:p>
        </p:txBody>
      </p:sp>
      <p:sp>
        <p:nvSpPr>
          <p:cNvPr id="26" name="Oval 25"/>
          <p:cNvSpPr/>
          <p:nvPr/>
        </p:nvSpPr>
        <p:spPr>
          <a:xfrm>
            <a:off x="5099791" y="4736592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8975" y="4718304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모델명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8975" y="4946904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설정에 등록한 것 중에서</a:t>
            </a:r>
          </a:p>
        </p:txBody>
      </p:sp>
      <p:sp>
        <p:nvSpPr>
          <p:cNvPr id="29" name="Oval 28"/>
          <p:cNvSpPr/>
          <p:nvPr/>
        </p:nvSpPr>
        <p:spPr>
          <a:xfrm>
            <a:off x="7366223" y="4736592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5407" y="4718304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TEMP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5407" y="4946904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비우면 기본값</a:t>
            </a:r>
          </a:p>
        </p:txBody>
      </p:sp>
      <p:sp>
        <p:nvSpPr>
          <p:cNvPr id="32" name="Oval 31"/>
          <p:cNvSpPr/>
          <p:nvPr/>
        </p:nvSpPr>
        <p:spPr>
          <a:xfrm>
            <a:off x="9632655" y="4736592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1839" y="4718304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설정 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1839" y="4946904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없으면 여기서 등록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14476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A919B"/>
                </a:solidFill>
                <a:latin typeface="맑은 고딕"/>
              </a:rPr>
              <a:t>Prompt 탭 = 노드의 프롬프트 버전을 골라 실행 (관리 › 프롬프트에 노드가 있어야 나타남)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06B1B"/>
                </a:solidFill>
                <a:latin typeface="맑은 고딕"/>
              </a:rPr>
              <a:t>실행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777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5292F"/>
                </a:solidFill>
                <a:latin typeface="맑은 고딕"/>
              </a:rPr>
              <a:t>실행 중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566928" cy="41148"/>
          </a:xfrm>
          <a:prstGeom prst="rect">
            <a:avLst/>
          </a:prstGeom>
          <a:solidFill>
            <a:srgbClr val="E0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95967" y="73152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8A919B"/>
                </a:solidFill>
                <a:latin typeface="맑은 고딕"/>
              </a:rPr>
              <a:t>10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19B"/>
                </a:solidFill>
                <a:latin typeface="맑은 고딕"/>
              </a:rPr>
              <a:t>TestX 사용 가이드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5" y="1376172"/>
            <a:ext cx="11158423" cy="313937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15-run-progress__255_160_1310_3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26464"/>
            <a:ext cx="11057839" cy="3038795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712047" y="1434905"/>
            <a:ext cx="776581" cy="430496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86038" y="1178873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7437982" y="1519316"/>
            <a:ext cx="607759" cy="270115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27561" y="1263284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1191569" y="2490042"/>
            <a:ext cx="877874" cy="312320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16206" y="2234010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1985" y="2895215"/>
            <a:ext cx="10787724" cy="303879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7685" y="3084794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471830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700016"/>
            <a:ext cx="2229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5292F"/>
                </a:solidFill>
                <a:latin typeface="맑은 고딕"/>
              </a:rPr>
              <a:t>취소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928616"/>
            <a:ext cx="2229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55C66"/>
                </a:solidFill>
                <a:latin typeface="맑은 고딕"/>
              </a:rPr>
              <a:t>돌리는 중엔 취소로 바뀜</a:t>
            </a:r>
          </a:p>
        </p:txBody>
      </p:sp>
      <p:sp>
        <p:nvSpPr>
          <p:cNvPr id="21" name="Oval 20"/>
          <p:cNvSpPr/>
          <p:nvPr/>
        </p:nvSpPr>
        <p:spPr>
          <a:xfrm>
            <a:off x="3399967" y="471830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9151" y="4700016"/>
            <a:ext cx="2229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5292F"/>
                </a:solidFill>
                <a:latin typeface="맑은 고딕"/>
              </a:rPr>
              <a:t>running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29151" y="4928616"/>
            <a:ext cx="2229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55C66"/>
                </a:solidFill>
                <a:latin typeface="맑은 고딕"/>
              </a:rPr>
              <a:t>끝나면 done</a:t>
            </a:r>
          </a:p>
        </p:txBody>
      </p:sp>
      <p:sp>
        <p:nvSpPr>
          <p:cNvPr id="24" name="Oval 23"/>
          <p:cNvSpPr/>
          <p:nvPr/>
        </p:nvSpPr>
        <p:spPr>
          <a:xfrm>
            <a:off x="6233007" y="471830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2191" y="4700016"/>
            <a:ext cx="2229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5292F"/>
                </a:solidFill>
                <a:latin typeface="맑은 고딕"/>
              </a:rPr>
              <a:t>RUNNING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2191" y="4928616"/>
            <a:ext cx="2229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55C66"/>
                </a:solidFill>
                <a:latin typeface="맑은 고딕"/>
              </a:rPr>
              <a:t>케이스 호출 중</a:t>
            </a:r>
          </a:p>
        </p:txBody>
      </p:sp>
      <p:sp>
        <p:nvSpPr>
          <p:cNvPr id="27" name="Oval 26"/>
          <p:cNvSpPr/>
          <p:nvPr/>
        </p:nvSpPr>
        <p:spPr>
          <a:xfrm>
            <a:off x="9066047" y="471830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5231" y="4700016"/>
            <a:ext cx="2229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5292F"/>
                </a:solidFill>
                <a:latin typeface="맑은 고딕"/>
              </a:rPr>
              <a:t>진행 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5231" y="4928616"/>
            <a:ext cx="2229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55C66"/>
                </a:solidFill>
                <a:latin typeface="맑은 고딕"/>
              </a:rPr>
              <a:t>답변 n / 전체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779008"/>
            <a:ext cx="11057839" cy="457200"/>
          </a:xfrm>
          <a:prstGeom prst="roundRect">
            <a:avLst>
              <a:gd name="adj" fmla="val 6000"/>
            </a:avLst>
          </a:prstGeom>
          <a:solidFill>
            <a:srgbClr val="FD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5907024"/>
            <a:ext cx="10417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55310"/>
                </a:solidFill>
                <a:latin typeface="맑은 고딕"/>
              </a:rPr>
              <a:t>새로고침해도 실행은 안 끊깁니다 — 다시 들어오면 그대로 복구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06B1B"/>
                </a:solidFill>
                <a:latin typeface="맑은 고딕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777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5292F"/>
                </a:solidFill>
                <a:latin typeface="맑은 고딕"/>
              </a:rPr>
              <a:t>요약 보기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566928" cy="41148"/>
          </a:xfrm>
          <a:prstGeom prst="rect">
            <a:avLst/>
          </a:prstGeom>
          <a:solidFill>
            <a:srgbClr val="E0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95967" y="73152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8A919B"/>
                </a:solidFill>
                <a:latin typeface="맑은 고딕"/>
              </a:rPr>
              <a:t>11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19B"/>
                </a:solidFill>
                <a:latin typeface="맑은 고딕"/>
              </a:rPr>
              <a:t>TestX 사용 가이드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4402" y="1330452"/>
            <a:ext cx="10762889" cy="38039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50-mock-single__255_85_1310_4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94" y="1380744"/>
            <a:ext cx="10662305" cy="3703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4694" y="1405161"/>
            <a:ext cx="1741781" cy="992978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0394" y="1290861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39032" y="1405161"/>
            <a:ext cx="1774337" cy="992978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99070" y="1290861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9807" y="2446974"/>
            <a:ext cx="10499522" cy="325566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3775" y="2495457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5700" y="2984159"/>
            <a:ext cx="2262687" cy="1920842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01400" y="4790702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96933" y="2951602"/>
            <a:ext cx="732524" cy="1953399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5157" y="4790702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5340096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321808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RAGAS Mean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550408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LLM 채점 평균 (0~1)</a:t>
            </a:r>
          </a:p>
        </p:txBody>
      </p:sp>
      <p:sp>
        <p:nvSpPr>
          <p:cNvPr id="23" name="Oval 22"/>
          <p:cNvSpPr/>
          <p:nvPr/>
        </p:nvSpPr>
        <p:spPr>
          <a:xfrm>
            <a:off x="2833359" y="5340096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62543" y="5321808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Action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62543" y="5550408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맞은 수 · 수동 통과 포함</a:t>
            </a:r>
          </a:p>
        </p:txBody>
      </p:sp>
      <p:sp>
        <p:nvSpPr>
          <p:cNvPr id="26" name="Oval 25"/>
          <p:cNvSpPr/>
          <p:nvPr/>
        </p:nvSpPr>
        <p:spPr>
          <a:xfrm>
            <a:off x="5099791" y="5340096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8975" y="5321808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키별 집계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8975" y="5550408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어떤 키가 자주 깨지나</a:t>
            </a:r>
          </a:p>
        </p:txBody>
      </p:sp>
      <p:sp>
        <p:nvSpPr>
          <p:cNvPr id="29" name="Oval 28"/>
          <p:cNvSpPr/>
          <p:nvPr/>
        </p:nvSpPr>
        <p:spPr>
          <a:xfrm>
            <a:off x="7366223" y="5340096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5407" y="5321808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실패율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5407" y="5550408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길수록 자주 깨짐</a:t>
            </a:r>
          </a:p>
        </p:txBody>
      </p:sp>
      <p:sp>
        <p:nvSpPr>
          <p:cNvPr id="32" name="Oval 31"/>
          <p:cNvSpPr/>
          <p:nvPr/>
        </p:nvSpPr>
        <p:spPr>
          <a:xfrm>
            <a:off x="9632655" y="5340096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1839" y="5321808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유형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1839" y="5550408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값 · 타입 · 누락 · 추가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06B1B"/>
                </a:solidFill>
                <a:latin typeface="맑은 고딕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777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5292F"/>
                </a:solidFill>
                <a:latin typeface="맑은 고딕"/>
              </a:rPr>
              <a:t>키별 판정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566928" cy="41148"/>
          </a:xfrm>
          <a:prstGeom prst="rect">
            <a:avLst/>
          </a:prstGeom>
          <a:solidFill>
            <a:srgbClr val="E0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95967" y="73152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8A919B"/>
                </a:solidFill>
                <a:latin typeface="맑은 고딕"/>
              </a:rPr>
              <a:t>12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19B"/>
                </a:solidFill>
                <a:latin typeface="맑은 고딕"/>
              </a:rPr>
              <a:t>TestX 사용 가이드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5" y="1330452"/>
            <a:ext cx="11158423" cy="396405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51b-mock-keydiff__310_2_1225_4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80744"/>
            <a:ext cx="11057839" cy="386347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157621" y="1398797"/>
            <a:ext cx="2166433" cy="361072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26538" y="1142765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062" y="1723762"/>
            <a:ext cx="10940490" cy="361072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6030" y="1789998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062" y="2229263"/>
            <a:ext cx="10940490" cy="379125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6030" y="2304526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062" y="3077783"/>
            <a:ext cx="10940490" cy="686037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6030" y="3306502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062" y="4828984"/>
            <a:ext cx="10940490" cy="361072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6030" y="4895220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5522976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504688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걸러 보기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733288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어긋난 키만 남기기</a:t>
            </a:r>
          </a:p>
        </p:txBody>
      </p:sp>
      <p:sp>
        <p:nvSpPr>
          <p:cNvPr id="23" name="Oval 22"/>
          <p:cNvSpPr/>
          <p:nvPr/>
        </p:nvSpPr>
        <p:spPr>
          <a:xfrm>
            <a:off x="2833359" y="5522976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62543" y="5504688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기대값 / 실제값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62543" y="5733288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같으면 = 로 접힘</a:t>
            </a:r>
          </a:p>
        </p:txBody>
      </p:sp>
      <p:sp>
        <p:nvSpPr>
          <p:cNvPr id="26" name="Oval 25"/>
          <p:cNvSpPr/>
          <p:nvPr/>
        </p:nvSpPr>
        <p:spPr>
          <a:xfrm>
            <a:off x="5099791" y="5522976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8975" y="5504688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누락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8975" y="5733288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응답에 없음</a:t>
            </a:r>
          </a:p>
        </p:txBody>
      </p:sp>
      <p:sp>
        <p:nvSpPr>
          <p:cNvPr id="29" name="Oval 28"/>
          <p:cNvSpPr/>
          <p:nvPr/>
        </p:nvSpPr>
        <p:spPr>
          <a:xfrm>
            <a:off x="7366223" y="5522976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5407" y="5504688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타입 · 값 다름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5407" y="5733288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4 vs "4", 15:00 vs 14:00</a:t>
            </a:r>
          </a:p>
        </p:txBody>
      </p:sp>
      <p:sp>
        <p:nvSpPr>
          <p:cNvPr id="32" name="Oval 31"/>
          <p:cNvSpPr/>
          <p:nvPr/>
        </p:nvSpPr>
        <p:spPr>
          <a:xfrm>
            <a:off x="9632655" y="5522976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1839" y="5504688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추가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1839" y="5733288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묻지 않은 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06B1B"/>
                </a:solidFill>
                <a:latin typeface="맑은 고딕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777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5292F"/>
                </a:solidFill>
                <a:latin typeface="맑은 고딕"/>
              </a:rPr>
              <a:t>재실행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566928" cy="41148"/>
          </a:xfrm>
          <a:prstGeom prst="rect">
            <a:avLst/>
          </a:prstGeom>
          <a:solidFill>
            <a:srgbClr val="E0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95967" y="73152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8A919B"/>
                </a:solidFill>
                <a:latin typeface="맑은 고딕"/>
              </a:rPr>
              <a:t>13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19B"/>
                </a:solidFill>
                <a:latin typeface="맑은 고딕"/>
              </a:rPr>
              <a:t>TestX 사용 가이드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5" y="1559052"/>
            <a:ext cx="11158423" cy="270044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50-mock-single__255_522_1310_3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9344"/>
            <a:ext cx="11057839" cy="259985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0160" y="2293072"/>
            <a:ext cx="337643" cy="1890806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4128" y="3124176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9092437" y="1803489"/>
            <a:ext cx="1131107" cy="320761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43691" y="1547457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10206662" y="1803489"/>
            <a:ext cx="1299929" cy="320761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42327" y="1547457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1401" y="1786607"/>
            <a:ext cx="2312861" cy="354526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03531" y="1530575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10763775" y="2343719"/>
            <a:ext cx="607759" cy="286997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98966" y="2372918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4443983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425696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체크박스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654296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다시 돌릴 케이스 고르기</a:t>
            </a:r>
          </a:p>
        </p:txBody>
      </p:sp>
      <p:sp>
        <p:nvSpPr>
          <p:cNvPr id="23" name="Oval 22"/>
          <p:cNvSpPr/>
          <p:nvPr/>
        </p:nvSpPr>
        <p:spPr>
          <a:xfrm>
            <a:off x="2833359" y="4443983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62543" y="4425696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선택 재실행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62543" y="4654296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체크한 케이스만 다시</a:t>
            </a:r>
          </a:p>
        </p:txBody>
      </p:sp>
      <p:sp>
        <p:nvSpPr>
          <p:cNvPr id="26" name="Oval 25"/>
          <p:cNvSpPr/>
          <p:nvPr/>
        </p:nvSpPr>
        <p:spPr>
          <a:xfrm>
            <a:off x="5099791" y="4443983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8975" y="4425696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불일치 재실행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8975" y="4654296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틀린 케이스만 다시</a:t>
            </a:r>
          </a:p>
        </p:txBody>
      </p:sp>
      <p:sp>
        <p:nvSpPr>
          <p:cNvPr id="29" name="Oval 28"/>
          <p:cNvSpPr/>
          <p:nvPr/>
        </p:nvSpPr>
        <p:spPr>
          <a:xfrm>
            <a:off x="7366223" y="4443983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5407" y="4425696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실행 정보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5407" y="4654296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최초 · 마지막 소요</a:t>
            </a:r>
          </a:p>
        </p:txBody>
      </p:sp>
      <p:sp>
        <p:nvSpPr>
          <p:cNvPr id="32" name="Oval 31"/>
          <p:cNvSpPr/>
          <p:nvPr/>
        </p:nvSpPr>
        <p:spPr>
          <a:xfrm>
            <a:off x="9632655" y="4443983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1839" y="4425696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모두 펼치기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1839" y="4654296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전체를 한 번에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760720"/>
            <a:ext cx="11057839" cy="457200"/>
          </a:xfrm>
          <a:prstGeom prst="roundRect">
            <a:avLst>
              <a:gd name="adj" fmla="val 6000"/>
            </a:avLst>
          </a:prstGeom>
          <a:solidFill>
            <a:srgbClr val="FD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" y="5888736"/>
            <a:ext cx="10417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55310"/>
                </a:solidFill>
                <a:latin typeface="맑은 고딕"/>
              </a:rPr>
              <a:t>새 기록이 생기지 않습니다 — 그 실행의 해당 케이스 결과만 덮이고, 다시 돌린 줄에는 재실행 표시가 붙습니다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06B1B"/>
                </a:solidFill>
                <a:latin typeface="맑은 고딕"/>
              </a:rPr>
              <a:t>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777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5292F"/>
                </a:solidFill>
                <a:latin typeface="맑은 고딕"/>
              </a:rPr>
              <a:t>A · B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566928" cy="41148"/>
          </a:xfrm>
          <a:prstGeom prst="rect">
            <a:avLst/>
          </a:prstGeom>
          <a:solidFill>
            <a:srgbClr val="E0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95967" y="73152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8A919B"/>
                </a:solidFill>
                <a:latin typeface="맑은 고딕"/>
              </a:rPr>
              <a:t>15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19B"/>
                </a:solidFill>
                <a:latin typeface="맑은 고딕"/>
              </a:rPr>
              <a:t>TestX 사용 가이드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5" y="1421892"/>
            <a:ext cx="11158423" cy="19154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22-compare-setup__255_75_1310_2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72184"/>
            <a:ext cx="11057839" cy="18148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80541" y="1708534"/>
            <a:ext cx="2000540" cy="38829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66512" y="1452502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84961" y="1708534"/>
            <a:ext cx="1721984" cy="38829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31653" y="1452502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92650" y="1708534"/>
            <a:ext cx="1721984" cy="38829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39342" y="1452502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4348540" y="2198118"/>
            <a:ext cx="1063578" cy="430496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66029" y="2656046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380390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785616"/>
            <a:ext cx="2229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5292F"/>
                </a:solidFill>
                <a:latin typeface="맑은 고딕"/>
              </a:rPr>
              <a:t>대상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014216"/>
            <a:ext cx="2229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55C66"/>
                </a:solidFill>
                <a:latin typeface="맑은 고딕"/>
              </a:rPr>
              <a:t>무엇을 가를지</a:t>
            </a:r>
          </a:p>
        </p:txBody>
      </p:sp>
      <p:sp>
        <p:nvSpPr>
          <p:cNvPr id="21" name="Oval 20"/>
          <p:cNvSpPr/>
          <p:nvPr/>
        </p:nvSpPr>
        <p:spPr>
          <a:xfrm>
            <a:off x="3399967" y="380390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9151" y="3785616"/>
            <a:ext cx="2229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5292F"/>
                </a:solidFill>
                <a:latin typeface="맑은 고딕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29151" y="4014216"/>
            <a:ext cx="2229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55C66"/>
                </a:solidFill>
                <a:latin typeface="맑은 고딕"/>
              </a:rPr>
              <a:t>기준</a:t>
            </a:r>
          </a:p>
        </p:txBody>
      </p:sp>
      <p:sp>
        <p:nvSpPr>
          <p:cNvPr id="24" name="Oval 23"/>
          <p:cNvSpPr/>
          <p:nvPr/>
        </p:nvSpPr>
        <p:spPr>
          <a:xfrm>
            <a:off x="6233007" y="380390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2191" y="3785616"/>
            <a:ext cx="2229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5292F"/>
                </a:solidFill>
                <a:latin typeface="맑은 고딕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2191" y="4014216"/>
            <a:ext cx="2229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55C66"/>
                </a:solidFill>
                <a:latin typeface="맑은 고딕"/>
              </a:rPr>
              <a:t>비교 대상 (헤더까지 따로)</a:t>
            </a:r>
          </a:p>
        </p:txBody>
      </p:sp>
      <p:sp>
        <p:nvSpPr>
          <p:cNvPr id="27" name="Oval 26"/>
          <p:cNvSpPr/>
          <p:nvPr/>
        </p:nvSpPr>
        <p:spPr>
          <a:xfrm>
            <a:off x="9066047" y="380390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5231" y="3785616"/>
            <a:ext cx="22295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5292F"/>
                </a:solidFill>
                <a:latin typeface="맑은 고딕"/>
              </a:rPr>
              <a:t>비교 실행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95231" y="4014216"/>
            <a:ext cx="22295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55C66"/>
                </a:solidFill>
                <a:latin typeface="맑은 고딕"/>
              </a:rPr>
              <a:t>같은 질문을 양쪽에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687568"/>
            <a:ext cx="11057839" cy="457200"/>
          </a:xfrm>
          <a:prstGeom prst="roundRect">
            <a:avLst>
              <a:gd name="adj" fmla="val 6000"/>
            </a:avLst>
          </a:prstGeom>
          <a:solidFill>
            <a:srgbClr val="FD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" y="5815583"/>
            <a:ext cx="10417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55310"/>
                </a:solidFill>
                <a:latin typeface="맑은 고딕"/>
              </a:rPr>
              <a:t>한 번에 한 축만 — API도 모델도 같이 바꾸면 왜 달라졌는지 말할 수 없습니다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06B1B"/>
                </a:solidFill>
                <a:latin typeface="맑은 고딕"/>
              </a:rPr>
              <a:t>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777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5292F"/>
                </a:solidFill>
                <a:latin typeface="맑은 고딕"/>
              </a:rPr>
              <a:t>A · B 결과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566928" cy="41148"/>
          </a:xfrm>
          <a:prstGeom prst="rect">
            <a:avLst/>
          </a:prstGeom>
          <a:solidFill>
            <a:srgbClr val="E0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95967" y="73152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8A919B"/>
                </a:solidFill>
                <a:latin typeface="맑은 고딕"/>
              </a:rPr>
              <a:t>16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19B"/>
                </a:solidFill>
                <a:latin typeface="맑은 고딕"/>
              </a:rPr>
              <a:t>TestX 사용 가이드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5" y="1330452"/>
            <a:ext cx="11158423" cy="364584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52-mock-compare__255_85_1310_4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80744"/>
            <a:ext cx="11057839" cy="354526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66928" y="1406067"/>
            <a:ext cx="5486714" cy="1164871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2628" y="1291767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04288" y="1406067"/>
            <a:ext cx="5486714" cy="1164871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76702" y="1291767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10223544" y="1583330"/>
            <a:ext cx="759698" cy="303879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89094" y="1327298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1985" y="3482577"/>
            <a:ext cx="10585137" cy="286997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5953" y="3511776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6087406" y="4115659"/>
            <a:ext cx="1181753" cy="286997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63983" y="4430089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5193792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175504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404104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기준 점수</a:t>
            </a:r>
          </a:p>
        </p:txBody>
      </p:sp>
      <p:sp>
        <p:nvSpPr>
          <p:cNvPr id="23" name="Oval 22"/>
          <p:cNvSpPr/>
          <p:nvPr/>
        </p:nvSpPr>
        <p:spPr>
          <a:xfrm>
            <a:off x="2833359" y="5193792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62543" y="5175504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B · Winner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62543" y="5404104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나은 쪽에 표시</a:t>
            </a:r>
          </a:p>
        </p:txBody>
      </p:sp>
      <p:sp>
        <p:nvSpPr>
          <p:cNvPr id="26" name="Oval 25"/>
          <p:cNvSpPr/>
          <p:nvPr/>
        </p:nvSpPr>
        <p:spPr>
          <a:xfrm>
            <a:off x="5099791" y="5193792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8975" y="5175504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8975" y="5404104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B − A</a:t>
            </a:r>
          </a:p>
        </p:txBody>
      </p:sp>
      <p:sp>
        <p:nvSpPr>
          <p:cNvPr id="29" name="Oval 28"/>
          <p:cNvSpPr/>
          <p:nvPr/>
        </p:nvSpPr>
        <p:spPr>
          <a:xfrm>
            <a:off x="7366223" y="5193792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5407" y="5175504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Delta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5407" y="5404104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지표별 차이</a:t>
            </a:r>
          </a:p>
        </p:txBody>
      </p:sp>
      <p:sp>
        <p:nvSpPr>
          <p:cNvPr id="32" name="Oval 31"/>
          <p:cNvSpPr/>
          <p:nvPr/>
        </p:nvSpPr>
        <p:spPr>
          <a:xfrm>
            <a:off x="9632655" y="5193792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1839" y="5175504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B ahead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1839" y="5404104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케이스 승패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06B1B"/>
                </a:solidFill>
                <a:latin typeface="맑은 고딕"/>
              </a:rPr>
              <a:t>기록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777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5292F"/>
                </a:solidFill>
                <a:latin typeface="맑은 고딕"/>
              </a:rPr>
              <a:t>실행 기록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566928" cy="41148"/>
          </a:xfrm>
          <a:prstGeom prst="rect">
            <a:avLst/>
          </a:prstGeom>
          <a:solidFill>
            <a:srgbClr val="E0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95967" y="73152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8A919B"/>
                </a:solidFill>
                <a:latin typeface="맑은 고딕"/>
              </a:rPr>
              <a:t>17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19B"/>
                </a:solidFill>
                <a:latin typeface="맑은 고딕"/>
              </a:rPr>
              <a:t>TestX 사용 가이드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5" y="1376172"/>
            <a:ext cx="11158423" cy="288614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20-records__255_85_1310_3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26464"/>
            <a:ext cx="11057839" cy="278556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63987" y="1569962"/>
            <a:ext cx="2008981" cy="405172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54178" y="1313930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56086" y="1586844"/>
            <a:ext cx="1890806" cy="371408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87189" y="1330812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5074474" y="2388749"/>
            <a:ext cx="776581" cy="337643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18442" y="2443271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9806" y="2042664"/>
            <a:ext cx="742816" cy="675287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48323" y="2603652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10898832" y="2388749"/>
            <a:ext cx="337643" cy="303879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63908" y="2426389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4443983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425696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검색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654296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노드 · 데이터셋 · 질문</a:t>
            </a:r>
          </a:p>
        </p:txBody>
      </p:sp>
      <p:sp>
        <p:nvSpPr>
          <p:cNvPr id="23" name="Oval 22"/>
          <p:cNvSpPr/>
          <p:nvPr/>
        </p:nvSpPr>
        <p:spPr>
          <a:xfrm>
            <a:off x="2833359" y="4443983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62543" y="4425696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필터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62543" y="4654296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전체 / Single / Compare</a:t>
            </a:r>
          </a:p>
        </p:txBody>
      </p:sp>
      <p:sp>
        <p:nvSpPr>
          <p:cNvPr id="26" name="Oval 25"/>
          <p:cNvSpPr/>
          <p:nvPr/>
        </p:nvSpPr>
        <p:spPr>
          <a:xfrm>
            <a:off x="5099791" y="4443983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8975" y="4425696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상태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8975" y="4654296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DONE · FAILED · CANCELLED</a:t>
            </a:r>
          </a:p>
        </p:txBody>
      </p:sp>
      <p:sp>
        <p:nvSpPr>
          <p:cNvPr id="29" name="Oval 28"/>
          <p:cNvSpPr/>
          <p:nvPr/>
        </p:nvSpPr>
        <p:spPr>
          <a:xfrm>
            <a:off x="7366223" y="4443983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5407" y="4425696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점수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5407" y="4654296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눌러서 정렬</a:t>
            </a:r>
          </a:p>
        </p:txBody>
      </p:sp>
      <p:sp>
        <p:nvSpPr>
          <p:cNvPr id="32" name="Oval 31"/>
          <p:cNvSpPr/>
          <p:nvPr/>
        </p:nvSpPr>
        <p:spPr>
          <a:xfrm>
            <a:off x="9632655" y="4443983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1839" y="4425696"/>
            <a:ext cx="16629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5292F"/>
                </a:solidFill>
                <a:latin typeface="맑은 고딕"/>
              </a:rPr>
              <a:t>CSV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1839" y="4654296"/>
            <a:ext cx="1662927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55C66"/>
                </a:solidFill>
                <a:latin typeface="맑은 고딕"/>
              </a:rPr>
              <a:t>행에서 바로 내려받기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10819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B55310"/>
                </a:solidFill>
                <a:latin typeface="맑은 고딕"/>
              </a:rPr>
              <a:t>행을 누르면 오른쪽에 상세 서랍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06B1B"/>
                </a:solidFill>
                <a:latin typeface="맑은 고딕"/>
              </a:rPr>
              <a:t>기록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777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5292F"/>
                </a:solidFill>
                <a:latin typeface="맑은 고딕"/>
              </a:rPr>
              <a:t>기록 상세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566928" cy="41148"/>
          </a:xfrm>
          <a:prstGeom prst="rect">
            <a:avLst/>
          </a:prstGeom>
          <a:solidFill>
            <a:srgbClr val="E0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95967" y="73152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8A919B"/>
                </a:solidFill>
                <a:latin typeface="맑은 고딕"/>
              </a:rPr>
              <a:t>18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19B"/>
                </a:solidFill>
                <a:latin typeface="맑은 고딕"/>
              </a:rPr>
              <a:t>TestX 사용 가이드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5" y="1467612"/>
            <a:ext cx="6592824" cy="396803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21-records-drawer__576_0_1024_6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17904"/>
            <a:ext cx="6492240" cy="386744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2029" y="1606665"/>
            <a:ext cx="1318736" cy="240922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07097" y="1875020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0602" y="1587644"/>
            <a:ext cx="722768" cy="266283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07686" y="1331612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5696051" y="1587644"/>
            <a:ext cx="494526" cy="266283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29014" y="1331612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4237833" y="2906381"/>
            <a:ext cx="836890" cy="253603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41978" y="3187416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5062043" y="2906381"/>
            <a:ext cx="824210" cy="253603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59848" y="2650349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0" name="Oval 19"/>
          <p:cNvSpPr/>
          <p:nvPr/>
        </p:nvSpPr>
        <p:spPr>
          <a:xfrm>
            <a:off x="5898933" y="2906381"/>
            <a:ext cx="976372" cy="253603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72819" y="3187416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2" name="Oval 21"/>
          <p:cNvSpPr/>
          <p:nvPr/>
        </p:nvSpPr>
        <p:spPr>
          <a:xfrm>
            <a:off x="7424927" y="160934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1591056"/>
            <a:ext cx="38523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5292F"/>
                </a:solidFill>
                <a:latin typeface="맑은 고딕"/>
              </a:rPr>
              <a:t>머리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1824228"/>
            <a:ext cx="385236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55C66"/>
                </a:solidFill>
                <a:latin typeface="맑은 고딕"/>
              </a:rPr>
              <a:t>유형 · 번호 · 상태</a:t>
            </a:r>
          </a:p>
        </p:txBody>
      </p:sp>
      <p:sp>
        <p:nvSpPr>
          <p:cNvPr id="25" name="Oval 24"/>
          <p:cNvSpPr/>
          <p:nvPr/>
        </p:nvSpPr>
        <p:spPr>
          <a:xfrm>
            <a:off x="7424927" y="234086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322576"/>
            <a:ext cx="38523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5292F"/>
                </a:solidFill>
                <a:latin typeface="맑은 고딕"/>
              </a:rPr>
              <a:t>이전 / 다음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555748"/>
            <a:ext cx="385236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55C66"/>
                </a:solidFill>
                <a:latin typeface="맑은 고딕"/>
              </a:rPr>
              <a:t>닫지 않고 넘기기</a:t>
            </a:r>
          </a:p>
        </p:txBody>
      </p:sp>
      <p:sp>
        <p:nvSpPr>
          <p:cNvPr id="28" name="Oval 27"/>
          <p:cNvSpPr/>
          <p:nvPr/>
        </p:nvSpPr>
        <p:spPr>
          <a:xfrm>
            <a:off x="7424927" y="307238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054096"/>
            <a:ext cx="38523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5292F"/>
                </a:solidFill>
                <a:latin typeface="맑은 고딕"/>
              </a:rPr>
              <a:t>CSV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287268"/>
            <a:ext cx="385236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55C66"/>
                </a:solidFill>
                <a:latin typeface="맑은 고딕"/>
              </a:rPr>
              <a:t>케이스별 전체 내보내기</a:t>
            </a:r>
          </a:p>
        </p:txBody>
      </p:sp>
      <p:sp>
        <p:nvSpPr>
          <p:cNvPr id="31" name="Oval 30"/>
          <p:cNvSpPr/>
          <p:nvPr/>
        </p:nvSpPr>
        <p:spPr>
          <a:xfrm>
            <a:off x="7424927" y="380390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785616"/>
            <a:ext cx="38523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5292F"/>
                </a:solidFill>
                <a:latin typeface="맑은 고딕"/>
              </a:rPr>
              <a:t>데이터셋에 추가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018788"/>
            <a:ext cx="385236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55C66"/>
                </a:solidFill>
                <a:latin typeface="맑은 고딕"/>
              </a:rPr>
              <a:t>직접 입력 기록에서만</a:t>
            </a:r>
          </a:p>
        </p:txBody>
      </p:sp>
      <p:sp>
        <p:nvSpPr>
          <p:cNvPr id="34" name="Oval 33"/>
          <p:cNvSpPr/>
          <p:nvPr/>
        </p:nvSpPr>
        <p:spPr>
          <a:xfrm>
            <a:off x="7424927" y="453542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517136"/>
            <a:ext cx="38523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5292F"/>
                </a:solidFill>
                <a:latin typeface="맑은 고딕"/>
              </a:rPr>
              <a:t>선택 재실행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750308"/>
            <a:ext cx="385236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55C66"/>
                </a:solidFill>
                <a:latin typeface="맑은 고딕"/>
              </a:rPr>
              <a:t>체크한 케이스만 다시</a:t>
            </a:r>
          </a:p>
        </p:txBody>
      </p:sp>
      <p:sp>
        <p:nvSpPr>
          <p:cNvPr id="37" name="Oval 36"/>
          <p:cNvSpPr/>
          <p:nvPr/>
        </p:nvSpPr>
        <p:spPr>
          <a:xfrm>
            <a:off x="7424927" y="5266944"/>
            <a:ext cx="246888" cy="246888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248656"/>
            <a:ext cx="38523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25292F"/>
                </a:solidFill>
                <a:latin typeface="맑은 고딕"/>
              </a:rPr>
              <a:t>불일치 재실행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5481828"/>
            <a:ext cx="3852367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55C66"/>
                </a:solidFill>
                <a:latin typeface="맑은 고딕"/>
              </a:rPr>
              <a:t>틀린 케이스만 다시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06B1B"/>
                </a:solidFill>
                <a:latin typeface="맑은 고딕"/>
              </a:rPr>
              <a:t>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777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5292F"/>
                </a:solidFill>
                <a:latin typeface="맑은 고딕"/>
              </a:rPr>
              <a:t>프롬프트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566928" cy="41148"/>
          </a:xfrm>
          <a:prstGeom prst="rect">
            <a:avLst/>
          </a:prstGeom>
          <a:solidFill>
            <a:srgbClr val="E0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95967" y="73152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8A919B"/>
                </a:solidFill>
                <a:latin typeface="맑은 고딕"/>
              </a:rPr>
              <a:t>19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19B"/>
                </a:solidFill>
                <a:latin typeface="맑은 고딕"/>
              </a:rPr>
              <a:t>TestX 사용 가이드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5" y="1696212"/>
            <a:ext cx="7598663" cy="106216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41-nodes__255_18_1310_1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46504"/>
            <a:ext cx="7498079" cy="961585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7595662" y="1798017"/>
            <a:ext cx="446450" cy="228949"/>
          </a:xfrm>
          <a:prstGeom prst="ellipse">
            <a:avLst/>
          </a:prstGeom>
          <a:noFill/>
          <a:ln w="25400">
            <a:solidFill>
              <a:srgbClr val="E06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81362" y="1912666"/>
            <a:ext cx="228600" cy="228600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1792224"/>
            <a:ext cx="32397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55310"/>
                </a:solidFill>
                <a:latin typeface="맑은 고딕"/>
              </a:rPr>
              <a:t>아직 노드가 없는 상태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5048" y="2176272"/>
            <a:ext cx="323971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50" b="0">
                <a:solidFill>
                  <a:srgbClr val="555C66"/>
                </a:solidFill>
                <a:latin typeface="맑은 고딕"/>
              </a:rPr>
              <a:t>+ 노드로 만들면 그 아래에</a:t>
            </a:r>
          </a:p>
          <a:p>
            <a:pPr algn="l">
              <a:lnSpc>
                <a:spcPct val="145000"/>
              </a:lnSpc>
            </a:pPr>
            <a:r>
              <a:rPr sz="1150" b="0">
                <a:solidFill>
                  <a:srgbClr val="555C66"/>
                </a:solidFill>
                <a:latin typeface="맑은 고딕"/>
              </a:rPr>
              <a:t>프롬프트를 버전으로 쌓습니다.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575304"/>
            <a:ext cx="11057839" cy="1691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822191"/>
            <a:ext cx="10143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292F"/>
                </a:solidFill>
                <a:latin typeface="맑은 고딕"/>
              </a:rPr>
              <a:t>무엇을 하는 화면인가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224528"/>
            <a:ext cx="1014343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555C66"/>
                </a:solidFill>
                <a:latin typeface="맑은 고딕"/>
              </a:rPr>
              <a:t>· 노드 = 플로우의 한 단계. 단계마다 프롬프트가 따로 있습니다.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555C66"/>
                </a:solidFill>
                <a:latin typeface="맑은 고딕"/>
              </a:rPr>
              <a:t>· 고칠 때 덮어쓰지 않고 새 버전으로 쌓습니다.</a:t>
            </a:r>
          </a:p>
          <a:p>
            <a:pPr algn="l">
              <a:lnSpc>
                <a:spcPct val="160000"/>
              </a:lnSpc>
            </a:pPr>
            <a:r>
              <a:rPr sz="1200" b="0">
                <a:solidFill>
                  <a:srgbClr val="555C66"/>
                </a:solidFill>
                <a:latin typeface="맑은 고딕"/>
              </a:rPr>
              <a:t>· 단일 실행의 대상 › Prompt 는 여기 쌓인 버전을 골라 돌립니다.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06B1B"/>
                </a:solidFill>
                <a:latin typeface="맑은 고딕"/>
              </a:rPr>
              <a:t>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777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5292F"/>
                </a:solidFill>
                <a:latin typeface="맑은 고딕"/>
              </a:rPr>
              <a:t>막힐 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566928" cy="41148"/>
          </a:xfrm>
          <a:prstGeom prst="rect">
            <a:avLst/>
          </a:prstGeom>
          <a:solidFill>
            <a:srgbClr val="E0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95967" y="73152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8A919B"/>
                </a:solidFill>
                <a:latin typeface="맑은 고딕"/>
              </a:rPr>
              <a:t>20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19B"/>
                </a:solidFill>
                <a:latin typeface="맑은 고딕"/>
              </a:rPr>
              <a:t>TestX 사용 가이드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63624"/>
            <a:ext cx="5254599" cy="11521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1792224"/>
            <a:ext cx="310896" cy="310896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10512"/>
            <a:ext cx="434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5292F"/>
                </a:solidFill>
                <a:latin typeface="맑은 고딕"/>
              </a:rPr>
              <a:t>실행이 안 눌려요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03704"/>
            <a:ext cx="4294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55C66"/>
                </a:solidFill>
                <a:latin typeface="맑은 고딕"/>
              </a:rPr>
              <a:t>데이터셋을 안 골랐을 가능성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0167" y="1563624"/>
            <a:ext cx="5254599" cy="11521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6199" y="1792224"/>
            <a:ext cx="310896" cy="310896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3399" y="1810512"/>
            <a:ext cx="434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5292F"/>
                </a:solidFill>
                <a:latin typeface="맑은 고딕"/>
              </a:rPr>
              <a:t>고를 API가 없어요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3399" y="2203704"/>
            <a:ext cx="4294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55C66"/>
                </a:solidFill>
                <a:latin typeface="맑은 고딕"/>
              </a:rPr>
              <a:t>설정 › Agent 에 먼저 등록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80944"/>
            <a:ext cx="5254599" cy="11521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3209544"/>
            <a:ext cx="310896" cy="310896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227832"/>
            <a:ext cx="434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5292F"/>
                </a:solidFill>
                <a:latin typeface="맑은 고딕"/>
              </a:rPr>
              <a:t>전부 호출 실패예요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621024"/>
            <a:ext cx="4294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55C66"/>
                </a:solidFill>
                <a:latin typeface="맑은 고딕"/>
              </a:rPr>
              <a:t>설정의 URL · 헤더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70167" y="2980944"/>
            <a:ext cx="5254599" cy="11521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26199" y="3209544"/>
            <a:ext cx="310896" cy="310896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3399" y="3227832"/>
            <a:ext cx="434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5292F"/>
                </a:solidFill>
                <a:latin typeface="맑은 고딕"/>
              </a:rPr>
              <a:t>점수가 안 나와요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3399" y="3621024"/>
            <a:ext cx="4294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55C66"/>
                </a:solidFill>
                <a:latin typeface="맑은 고딕"/>
              </a:rPr>
              <a:t>채점이 꺼졌거나 정답이 비었음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98264"/>
            <a:ext cx="5254599" cy="11521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60" y="4626864"/>
            <a:ext cx="310896" cy="310896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645152"/>
            <a:ext cx="434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5292F"/>
                </a:solidFill>
                <a:latin typeface="맑은 고딕"/>
              </a:rPr>
              <a:t>새로고침했어요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038344"/>
            <a:ext cx="4294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55C66"/>
                </a:solidFill>
                <a:latin typeface="맑은 고딕"/>
              </a:rPr>
              <a:t>괜찮습니다, 이어서 보여 줍니다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70167" y="4398264"/>
            <a:ext cx="5254599" cy="11521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26199" y="4626864"/>
            <a:ext cx="310896" cy="310896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3399" y="4645152"/>
            <a:ext cx="434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5292F"/>
                </a:solidFill>
                <a:latin typeface="맑은 고딕"/>
              </a:rPr>
              <a:t>목록이 다 비었어요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3399" y="5038344"/>
            <a:ext cx="42944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55C66"/>
                </a:solidFill>
                <a:latin typeface="맑은 고딕"/>
              </a:rPr>
              <a:t>사이드바 아래 DB 점 확인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02336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06B1B"/>
                </a:solidFill>
                <a:latin typeface="맑은 고딕"/>
              </a:rPr>
              <a:t>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7776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5292F"/>
                </a:solidFill>
                <a:latin typeface="맑은 고딕"/>
              </a:rPr>
              <a:t>불일치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566928" cy="41148"/>
          </a:xfrm>
          <a:prstGeom prst="rect">
            <a:avLst/>
          </a:prstGeom>
          <a:solidFill>
            <a:srgbClr val="E06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95967" y="73152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>
                <a:solidFill>
                  <a:srgbClr val="8A919B"/>
                </a:solidFill>
                <a:latin typeface="맑은 고딕"/>
              </a:rPr>
              <a:t>14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A919B"/>
                </a:solidFill>
                <a:latin typeface="맑은 고딕"/>
              </a:rPr>
              <a:t>TestX 사용 가이드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74519"/>
            <a:ext cx="325922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167128"/>
            <a:ext cx="420624" cy="420624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212848"/>
            <a:ext cx="216194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5292F"/>
                </a:solidFill>
                <a:latin typeface="맑은 고딕"/>
              </a:rPr>
              <a:t>일치 처리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852928"/>
            <a:ext cx="243626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555C66"/>
                </a:solidFill>
                <a:latin typeface="맑은 고딕"/>
              </a:rPr>
              <a:t>케이스 줄의 「일치 처리」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555C66"/>
                </a:solidFill>
                <a:latin typeface="맑은 고딕"/>
              </a:rPr>
              <a:t>채점은 불일치인 채, 통과로 친다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54170" y="2788920"/>
            <a:ext cx="384048" cy="0"/>
          </a:xfrm>
          <a:prstGeom prst="line">
            <a:avLst/>
          </a:prstGeom>
          <a:ln w="31750">
            <a:solidFill>
              <a:srgbClr val="E06B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66234" y="1874519"/>
            <a:ext cx="325922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758842" y="2167128"/>
            <a:ext cx="420624" cy="420624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0634" y="2212848"/>
            <a:ext cx="216194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5292F"/>
                </a:solidFill>
                <a:latin typeface="맑은 고딕"/>
              </a:rPr>
              <a:t>정답 수정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9154" y="2852928"/>
            <a:ext cx="243626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555C66"/>
                </a:solidFill>
                <a:latin typeface="맑은 고딕"/>
              </a:rPr>
              <a:t>그 옆의 「정답 수정」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555C66"/>
                </a:solidFill>
                <a:latin typeface="맑은 고딕"/>
              </a:rPr>
              <a:t>데이터셋 정답을 이 답으로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53476" y="2788920"/>
            <a:ext cx="384048" cy="0"/>
          </a:xfrm>
          <a:prstGeom prst="line">
            <a:avLst/>
          </a:prstGeom>
          <a:ln w="31750">
            <a:solidFill>
              <a:srgbClr val="E06B1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65540" y="1874519"/>
            <a:ext cx="3259226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F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58148" y="2167128"/>
            <a:ext cx="420624" cy="420624"/>
          </a:xfrm>
          <a:prstGeom prst="ellipse">
            <a:avLst/>
          </a:prstGeom>
          <a:solidFill>
            <a:srgbClr val="E06B1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9940" y="2212848"/>
            <a:ext cx="216194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25292F"/>
                </a:solidFill>
                <a:latin typeface="맑은 고딕"/>
              </a:rPr>
              <a:t>불일치 재실행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8460" y="2852928"/>
            <a:ext cx="243626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555C66"/>
                </a:solidFill>
                <a:latin typeface="맑은 고딕"/>
              </a:rPr>
              <a:t>머리줄의 「불일치 재실행」</a:t>
            </a:r>
          </a:p>
          <a:p>
            <a:pPr algn="l">
              <a:lnSpc>
                <a:spcPct val="145000"/>
              </a:lnSpc>
            </a:pPr>
            <a:r>
              <a:rPr sz="1200" b="0">
                <a:solidFill>
                  <a:srgbClr val="555C66"/>
                </a:solidFill>
                <a:latin typeface="맑은 고딕"/>
              </a:rPr>
              <a:t>고친 뒤 그 케이스만 다시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160520"/>
            <a:ext cx="11057839" cy="1280160"/>
          </a:xfrm>
          <a:prstGeom prst="roundRect">
            <a:avLst>
              <a:gd name="adj" fmla="val 3000"/>
            </a:avLst>
          </a:prstGeom>
          <a:solidFill>
            <a:srgbClr val="FD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3891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55310"/>
                </a:solidFill>
                <a:latin typeface="맑은 고딕"/>
              </a:rPr>
              <a:t>집계에 반영됩니다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75488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55C66"/>
                </a:solidFill>
                <a:latin typeface="맑은 고딕"/>
              </a:rPr>
              <a:t>통과시킨 케이스는 맞은 개수에 들어갑니다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555C66"/>
                </a:solidFill>
                <a:latin typeface="맑은 고딕"/>
              </a:rPr>
              <a:t>키별 집계와 불일치 재실행 대상에서도 빠집니다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7648" y="4389120"/>
            <a:ext cx="18288" cy="868680"/>
          </a:xfrm>
          <a:prstGeom prst="rect">
            <a:avLst/>
          </a:prstGeom>
          <a:solidFill>
            <a:srgbClr val="DF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43891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B55310"/>
                </a:solidFill>
                <a:latin typeface="맑은 고딕"/>
              </a:rPr>
              <a:t>기록은 그대로입니다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475488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55C66"/>
                </a:solidFill>
                <a:latin typeface="맑은 고딕"/>
              </a:rPr>
              <a:t>지난 실행은 그때의 정답지로 채점된 사실입니다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555C66"/>
                </a:solidFill>
                <a:latin typeface="맑은 고딕"/>
              </a:rPr>
              <a:t>정답을 고쳐도 그 기록은 바뀌지 않습니다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